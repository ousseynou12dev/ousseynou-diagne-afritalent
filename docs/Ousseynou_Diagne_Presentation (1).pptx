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816" y="-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3141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6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463040"/>
            <a:ext cx="4023360" cy="4023360"/>
          </a:xfrm>
          <a:prstGeom prst="ellipse">
            <a:avLst/>
          </a:prstGeom>
          <a:solidFill>
            <a:srgbClr val="214E34">
              <a:alpha val="2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-1280160" y="3291840"/>
            <a:ext cx="2926080" cy="2926080"/>
          </a:xfrm>
          <a:prstGeom prst="ellipse">
            <a:avLst/>
          </a:prstGeom>
          <a:solidFill>
            <a:srgbClr val="DFF8EB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ISI  ·  SUJET DE PROJET S2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Afri</a:t>
            </a:r>
            <a:r>
              <a:rPr lang="en-US" sz="5800" b="1" dirty="0">
                <a:solidFill>
                  <a:srgbClr val="DFF8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Talent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DCD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vitrine d'une plateforme de mise en relation entre freelances tech et entreprises africaines.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3291840" cy="105156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Ousseynou DIAGNÉ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CDCD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[l1 cybersecurity]  ·  [vendredi 3 Juillet 2026]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379476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34F2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1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80760" y="379476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1572B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223760" y="3794760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7952B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4279392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F7DF1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1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4279392"/>
            <a:ext cx="2194560" cy="384048"/>
          </a:xfrm>
          <a:prstGeom prst="roundRect">
            <a:avLst>
              <a:gd name="adj" fmla="val 14286"/>
            </a:avLst>
          </a:prstGeom>
          <a:solidFill>
            <a:srgbClr val="36415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Pages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0" y="48646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15</a:t>
            </a:r>
            <a:endParaRPr lang="en-US" sz="900" dirty="0"/>
          </a:p>
        </p:txBody>
      </p: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14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116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nous allons voir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794760" cy="548640"/>
          </a:xfrm>
          <a:prstGeom prst="roundRect">
            <a:avLst>
              <a:gd name="adj" fmla="val 13333"/>
            </a:avLst>
          </a:prstGeom>
          <a:solidFill>
            <a:srgbClr val="DFF8EB"/>
          </a:solidFill>
          <a:ln/>
          <a:effectLst>
            <a:outerShdw blurRad="508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4E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4173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1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3794760" cy="548640"/>
          </a:xfrm>
          <a:prstGeom prst="roundRect">
            <a:avLst>
              <a:gd name="adj" fmla="val 13333"/>
            </a:avLst>
          </a:prstGeom>
          <a:solidFill>
            <a:srgbClr val="DFF8EB"/>
          </a:solidFill>
          <a:ln/>
          <a:effectLst>
            <a:outerShdw blurRad="508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4E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1031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1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design : palette &amp; typographie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3794760" cy="548640"/>
          </a:xfrm>
          <a:prstGeom prst="roundRect">
            <a:avLst>
              <a:gd name="adj" fmla="val 13333"/>
            </a:avLst>
          </a:prstGeom>
          <a:solidFill>
            <a:srgbClr val="DFF8EB"/>
          </a:solidFill>
          <a:ln/>
          <a:effectLst>
            <a:outerShdw blurRad="508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8580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4E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7889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1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projet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3794760" cy="548640"/>
          </a:xfrm>
          <a:prstGeom prst="roundRect">
            <a:avLst>
              <a:gd name="adj" fmla="val 13333"/>
            </a:avLst>
          </a:prstGeom>
          <a:solidFill>
            <a:srgbClr val="DFF8EB"/>
          </a:solidFill>
          <a:ln/>
          <a:effectLst>
            <a:outerShdw blurRad="508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8580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4E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4747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1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techniques : JavaScript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3794760" cy="548640"/>
          </a:xfrm>
          <a:prstGeom prst="roundRect">
            <a:avLst>
              <a:gd name="adj" fmla="val 13333"/>
            </a:avLst>
          </a:prstGeom>
          <a:solidFill>
            <a:srgbClr val="DFF8EB"/>
          </a:solidFill>
          <a:ln/>
          <a:effectLst>
            <a:outerShdw blurRad="508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8580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4E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1605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1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techniques : Bootstrap &amp; CSS avancé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1417320"/>
            <a:ext cx="3794760" cy="548640"/>
          </a:xfrm>
          <a:prstGeom prst="roundRect">
            <a:avLst>
              <a:gd name="adj" fmla="val 13333"/>
            </a:avLst>
          </a:prstGeom>
          <a:solidFill>
            <a:srgbClr val="DFF8EB"/>
          </a:solidFill>
          <a:ln/>
          <a:effectLst>
            <a:outerShdw blurRad="508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84632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4E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94960" y="14173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1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: commits &amp; déploiement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09160" y="2103120"/>
            <a:ext cx="3794760" cy="548640"/>
          </a:xfrm>
          <a:prstGeom prst="roundRect">
            <a:avLst>
              <a:gd name="adj" fmla="val 13333"/>
            </a:avLst>
          </a:prstGeom>
          <a:solidFill>
            <a:srgbClr val="DFF8EB"/>
          </a:solidFill>
          <a:ln/>
          <a:effectLst>
            <a:outerShdw blurRad="508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84632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4E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94960" y="21031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1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rencontrées et solutions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09160" y="2788920"/>
            <a:ext cx="3794760" cy="548640"/>
          </a:xfrm>
          <a:prstGeom prst="roundRect">
            <a:avLst>
              <a:gd name="adj" fmla="val 13333"/>
            </a:avLst>
          </a:prstGeom>
          <a:solidFill>
            <a:srgbClr val="DFF8EB"/>
          </a:solidFill>
          <a:ln/>
          <a:effectLst>
            <a:outerShdw blurRad="508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84632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4E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94960" y="27889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1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et documentation utilisées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09160" y="3474720"/>
            <a:ext cx="3794760" cy="548640"/>
          </a:xfrm>
          <a:prstGeom prst="roundRect">
            <a:avLst>
              <a:gd name="adj" fmla="val 13333"/>
            </a:avLst>
          </a:prstGeom>
          <a:solidFill>
            <a:srgbClr val="DFF8EB"/>
          </a:solidFill>
          <a:ln/>
          <a:effectLst>
            <a:outerShdw blurRad="508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84632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4E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394960" y="34747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1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en direct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09160" y="4160520"/>
            <a:ext cx="3794760" cy="548640"/>
          </a:xfrm>
          <a:prstGeom prst="roundRect">
            <a:avLst>
              <a:gd name="adj" fmla="val 13333"/>
            </a:avLst>
          </a:prstGeom>
          <a:solidFill>
            <a:srgbClr val="DFF8EB"/>
          </a:solidFill>
          <a:ln/>
          <a:effectLst>
            <a:outerShdw blurRad="508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84632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4E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94960" y="41605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1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et perspectives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29600" y="48646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14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116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Contexte, objectif et public cible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8046720" cy="1051560"/>
          </a:xfrm>
          <a:prstGeom prst="roundRect">
            <a:avLst>
              <a:gd name="adj" fmla="val 6957"/>
            </a:avLst>
          </a:prstGeom>
          <a:solidFill>
            <a:srgbClr val="DFF8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77240" y="1508760"/>
            <a:ext cx="658368" cy="658368"/>
          </a:xfrm>
          <a:prstGeom prst="ellipse">
            <a:avLst/>
          </a:prstGeom>
          <a:solidFill>
            <a:srgbClr val="214E3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416" y="1679936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463040"/>
            <a:ext cx="6812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1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 </a:t>
            </a:r>
            <a:r>
              <a:rPr lang="en-US" sz="1250" dirty="0">
                <a:solidFill>
                  <a:srgbClr val="364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Le marché du freelance tech en Afrique connaît une croissance explosive : développeurs, designers et créateurs de contenu cherchent une plateforme fiable pour trouver des missions.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260604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1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du projet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rgbClr val="364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et développer le site vitrine complet d'AfriTalent : présenter la plateforme, ses fonctionnalités, ses </a:t>
            </a:r>
            <a:r>
              <a:rPr lang="en-US" sz="1250" dirty="0" err="1">
                <a:solidFill>
                  <a:srgbClr val="364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tarifs</a:t>
            </a:r>
            <a:r>
              <a:rPr lang="en-US" sz="1250" dirty="0">
                <a:solidFill>
                  <a:srgbClr val="364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des profils de freelances, et convaincre les visiteurs de s'inscrire.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17720" y="2606040"/>
            <a:ext cx="18288" cy="1828800"/>
          </a:xfrm>
          <a:prstGeom prst="rect">
            <a:avLst/>
          </a:prstGeom>
          <a:solidFill>
            <a:srgbClr val="CDCDC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4846320" y="2606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cible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846320" y="2999232"/>
            <a:ext cx="457200" cy="457200"/>
          </a:xfrm>
          <a:prstGeom prst="ellipse">
            <a:avLst/>
          </a:prstGeom>
          <a:solidFill>
            <a:srgbClr val="DFF8E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3118104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299923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Freelances tech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364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développeurs, designers, data &amp; IA...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846320" y="3611880"/>
            <a:ext cx="457200" cy="457200"/>
          </a:xfrm>
          <a:prstGeom prst="ellipse">
            <a:avLst/>
          </a:prstGeom>
          <a:solidFill>
            <a:srgbClr val="DFF8E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5192" y="373075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40680" y="3611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364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recherche de talents fiables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8229600" y="48646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14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16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palette inspirée du numérique et du continent africain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36192" cy="1371600"/>
          </a:xfrm>
          <a:prstGeom prst="roundRect">
            <a:avLst>
              <a:gd name="adj" fmla="val 6667"/>
            </a:avLst>
          </a:prstGeom>
          <a:solidFill>
            <a:srgbClr val="011638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281635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116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#011638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1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— Navy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64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Confiance, technologie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94560" y="1371600"/>
            <a:ext cx="1536192" cy="1371600"/>
          </a:xfrm>
          <a:prstGeom prst="roundRect">
            <a:avLst>
              <a:gd name="adj" fmla="val 6667"/>
            </a:avLst>
          </a:prstGeom>
          <a:solidFill>
            <a:srgbClr val="364156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194560" y="281635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116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#364156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94560" y="310896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1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— Ardoise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94560" y="352044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64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courant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40480" y="1371600"/>
            <a:ext cx="1536192" cy="1371600"/>
          </a:xfrm>
          <a:prstGeom prst="roundRect">
            <a:avLst>
              <a:gd name="adj" fmla="val 6667"/>
            </a:avLst>
          </a:prstGeom>
          <a:solidFill>
            <a:srgbClr val="CDCDCD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840480" y="281635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116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#CDCDCD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0" y="310896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1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— Gris clair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40480" y="352044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64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Bordures, neutralité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0" y="1371600"/>
            <a:ext cx="1536192" cy="1371600"/>
          </a:xfrm>
          <a:prstGeom prst="roundRect">
            <a:avLst>
              <a:gd name="adj" fmla="val 6667"/>
            </a:avLst>
          </a:prstGeom>
          <a:solidFill>
            <a:srgbClr val="DFF8EB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486400" y="281635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116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#DFF8EB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0" y="310896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1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Bg-soft — Menthe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0" y="352044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64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Fraîcheur, respiration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32320" y="1371600"/>
            <a:ext cx="1536192" cy="1371600"/>
          </a:xfrm>
          <a:prstGeom prst="roundRect">
            <a:avLst>
              <a:gd name="adj" fmla="val 6667"/>
            </a:avLst>
          </a:prstGeom>
          <a:solidFill>
            <a:srgbClr val="214E34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7132320" y="281635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116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#214E34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32320" y="310896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1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 — Vert forêt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132320" y="352044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64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Croissance, validation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4160520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DFF8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777240" y="416052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1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couleur domine (le navy), le vert forêt sert d'accent ponctuel (boutons, validations) 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0" y="48646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14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116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Typographie &amp; inspirations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4048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CDCDC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rgbClr val="DFF8E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173095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276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16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Playfair Display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17320" y="1965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64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Titres (h1, h2, h3)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77240" y="233172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serif élégante et éditoriale qui donne du caractère aux gros titres et évoque le sérieux d'une plateforme professionnelle.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32004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16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77240" y="353872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64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Corps de texte, boutons, UI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77240" y="3858768"/>
            <a:ext cx="3337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sans-serif moderne, très lisible sur écran, conçue pour les interfaces — parfaite pour les longs paragraphes.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54880" y="1371600"/>
            <a:ext cx="3840480" cy="2651760"/>
          </a:xfrm>
          <a:prstGeom prst="roundRect">
            <a:avLst>
              <a:gd name="adj" fmla="val 2759"/>
            </a:avLst>
          </a:prstGeom>
          <a:solidFill>
            <a:srgbClr val="0116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5029200" y="1554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d'inspiration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029200" y="205740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FF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Awwwards — tendances web haut de gamme 2026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FF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Dribbble — mise en page Bento Grid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FF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Docs — composants natifs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FF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Unsplash / Pexels — photographies libres de droits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229600" y="48646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14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116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Arborescence du projet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114800" cy="3429000"/>
          </a:xfrm>
          <a:prstGeom prst="roundRect">
            <a:avLst>
              <a:gd name="adj" fmla="val 2133"/>
            </a:avLst>
          </a:prstGeom>
          <a:solidFill>
            <a:srgbClr val="0116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77240" y="1536192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FF8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Ousseynou-Diagne-AfriTalent/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FF8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index.html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FF8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freelances.html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FF8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tarifs.html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FF8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about.html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FF8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contact.html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FF8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blog.html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FF8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css/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FF8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style.css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FF8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js/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FF8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main.js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FF8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images/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FF8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(photos, logos, avatars)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FF8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docs/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FF8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Presentation.pptx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FF8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FF8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.gitignore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892040" y="1463040"/>
            <a:ext cx="502920" cy="502920"/>
          </a:xfrm>
          <a:prstGeom prst="ellipse">
            <a:avLst/>
          </a:prstGeom>
          <a:solidFill>
            <a:srgbClr val="DFF8E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2799" y="159379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532120" y="149047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1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pages HTML + Blog reliées entre elles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892040" y="2103120"/>
            <a:ext cx="502920" cy="502920"/>
          </a:xfrm>
          <a:prstGeom prst="ellipse">
            <a:avLst/>
          </a:prstGeom>
          <a:solidFill>
            <a:srgbClr val="DFF8E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2799" y="223387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32120" y="21305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1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fichier CSS externe, 1 fichier JS externe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892040" y="2743200"/>
            <a:ext cx="502920" cy="502920"/>
          </a:xfrm>
          <a:prstGeom prst="ellipse">
            <a:avLst/>
          </a:prstGeom>
          <a:solidFill>
            <a:srgbClr val="DFF8E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2799" y="2873959"/>
            <a:ext cx="241402" cy="2414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532120" y="27706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1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images/ pour toutes les ressources visuelles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4892040" y="3383280"/>
            <a:ext cx="502920" cy="502920"/>
          </a:xfrm>
          <a:prstGeom prst="ellipse">
            <a:avLst/>
          </a:prstGeom>
          <a:solidFill>
            <a:srgbClr val="DFF8E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2799" y="3514039"/>
            <a:ext cx="241402" cy="24140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532120" y="341071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1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8229600" y="48646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14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116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Aperçu des pages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92472"/>
            <a:ext cx="3794760" cy="1691640"/>
          </a:xfrm>
          <a:prstGeom prst="roundRect">
            <a:avLst>
              <a:gd name="adj" fmla="val 4324"/>
            </a:avLst>
          </a:prstGeom>
          <a:solidFill>
            <a:srgbClr val="DFF8EB"/>
          </a:solidFill>
          <a:ln w="12700">
            <a:solidFill>
              <a:srgbClr val="214E34"/>
            </a:solidFill>
            <a:prstDash val="dash"/>
          </a:ln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b="1" dirty="0">
                <a:solidFill>
                  <a:srgbClr val="01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 — Hero + Bento Grid</a:t>
            </a:r>
          </a:p>
          <a:p>
            <a:endParaRPr lang="fr-FR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3794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26280" y="1371600"/>
            <a:ext cx="3794760" cy="1691640"/>
          </a:xfrm>
          <a:prstGeom prst="roundRect">
            <a:avLst>
              <a:gd name="adj" fmla="val 4324"/>
            </a:avLst>
          </a:prstGeom>
          <a:solidFill>
            <a:srgbClr val="DFF8EB"/>
          </a:solidFill>
          <a:ln w="12700">
            <a:solidFill>
              <a:srgbClr val="214E34"/>
            </a:solidFill>
            <a:prstDash val="dash"/>
          </a:ln>
        </p:spPr>
        <p:txBody>
          <a:bodyPr/>
          <a:lstStyle/>
          <a:p>
            <a:pPr algn="ctr"/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b="1" dirty="0">
                <a:solidFill>
                  <a:srgbClr val="01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Freelances — filtres + modale</a:t>
            </a:r>
            <a:endParaRPr lang="en-US" sz="3200" dirty="0"/>
          </a:p>
          <a:p>
            <a:endParaRPr lang="fr-FR" dirty="0"/>
          </a:p>
        </p:txBody>
      </p:sp>
      <p:sp>
        <p:nvSpPr>
          <p:cNvPr id="7" name="Text 5"/>
          <p:cNvSpPr/>
          <p:nvPr/>
        </p:nvSpPr>
        <p:spPr>
          <a:xfrm>
            <a:off x="4526280" y="1371600"/>
            <a:ext cx="3794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3794760" cy="1691640"/>
          </a:xfrm>
          <a:prstGeom prst="roundRect">
            <a:avLst>
              <a:gd name="adj" fmla="val 4324"/>
            </a:avLst>
          </a:prstGeom>
          <a:solidFill>
            <a:srgbClr val="DFF8EB"/>
          </a:solidFill>
          <a:ln w="12700">
            <a:solidFill>
              <a:srgbClr val="214E34"/>
            </a:solidFill>
            <a:prstDash val="dash"/>
          </a:ln>
        </p:spPr>
        <p:txBody>
          <a:bodyPr/>
          <a:lstStyle/>
          <a:p>
            <a:r>
              <a:rPr lang="en-US" b="1" dirty="0">
                <a:solidFill>
                  <a:srgbClr val="01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Tarifs — plans + FAQ</a:t>
            </a:r>
            <a:endParaRPr lang="en-US" sz="3200" dirty="0"/>
          </a:p>
          <a:p>
            <a:endParaRPr lang="fr-FR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3794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64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d'écran à insérer ici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26280" y="3246120"/>
            <a:ext cx="3794760" cy="1691640"/>
          </a:xfrm>
          <a:prstGeom prst="roundRect">
            <a:avLst>
              <a:gd name="adj" fmla="val 4324"/>
            </a:avLst>
          </a:prstGeom>
          <a:solidFill>
            <a:srgbClr val="DFF8EB"/>
          </a:solidFill>
          <a:ln w="12700">
            <a:solidFill>
              <a:srgbClr val="214E34"/>
            </a:solidFill>
            <a:prstDash val="dash"/>
          </a:ln>
        </p:spPr>
        <p:txBody>
          <a:bodyPr/>
          <a:lstStyle/>
          <a:p>
            <a:r>
              <a:rPr lang="en-US" b="1" dirty="0">
                <a:solidFill>
                  <a:srgbClr val="01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propos — équipe + chiffres</a:t>
            </a:r>
            <a:endParaRPr lang="en-US" sz="3200" dirty="0"/>
          </a:p>
          <a:p>
            <a:endParaRPr lang="fr-FR" dirty="0"/>
          </a:p>
        </p:txBody>
      </p:sp>
      <p:sp>
        <p:nvSpPr>
          <p:cNvPr id="11" name="Text 9"/>
          <p:cNvSpPr/>
          <p:nvPr/>
        </p:nvSpPr>
        <p:spPr>
          <a:xfrm>
            <a:off x="4526280" y="3246120"/>
            <a:ext cx="3794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0" y="48646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30798614-3839-D61A-93D5-9CCB8440E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39348"/>
            <a:ext cx="3794760" cy="1323892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F5C12BEF-23B2-171B-8EE6-3BE18D0D8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1" y="1897381"/>
            <a:ext cx="3794760" cy="1165860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796BDA20-0D95-1D79-DBE0-2568ED203E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607904"/>
            <a:ext cx="3794761" cy="1329856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5DBCBB3A-09C6-C6E1-E848-4F4DCEE2DE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607904"/>
            <a:ext cx="3749041" cy="1329856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14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TECHNIQUES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16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(vanilla) — les 7 fonctionnalités clés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96957" y="1162481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DFF8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85800" y="156819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652" y="1668048"/>
            <a:ext cx="184343" cy="184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1325880"/>
            <a:ext cx="1856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1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+ localStorage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64408" y="132588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DFF8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3401568" y="156819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1420" y="1668048"/>
            <a:ext cx="184343" cy="1843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86200" y="1325880"/>
            <a:ext cx="1856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1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Compteurs animés (IntersectionObserver)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980176" y="132588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DFF8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9"/>
          <p:cNvSpPr/>
          <p:nvPr/>
        </p:nvSpPr>
        <p:spPr>
          <a:xfrm>
            <a:off x="6117336" y="156819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188" y="1668048"/>
            <a:ext cx="184343" cy="18434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01968" y="1325880"/>
            <a:ext cx="1856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1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dynamique des freelances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48640" y="2304288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DFF8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2"/>
          <p:cNvSpPr/>
          <p:nvPr/>
        </p:nvSpPr>
        <p:spPr>
          <a:xfrm>
            <a:off x="685800" y="2546604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652" y="2646456"/>
            <a:ext cx="184343" cy="18434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70432" y="2304288"/>
            <a:ext cx="1856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1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 formulaire (regex email)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3264408" y="2304288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DFF8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5"/>
          <p:cNvSpPr/>
          <p:nvPr/>
        </p:nvSpPr>
        <p:spPr>
          <a:xfrm>
            <a:off x="3401568" y="2546604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1420" y="2646456"/>
            <a:ext cx="184343" cy="18434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886200" y="2304288"/>
            <a:ext cx="1856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1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dynamique au scroll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5980176" y="2304288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DFF8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18"/>
          <p:cNvSpPr/>
          <p:nvPr/>
        </p:nvSpPr>
        <p:spPr>
          <a:xfrm>
            <a:off x="6117336" y="2546604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188" y="2646456"/>
            <a:ext cx="184343" cy="184343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601968" y="2304288"/>
            <a:ext cx="1856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1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retour en haut (smooth scroll)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548640" y="3272820"/>
            <a:ext cx="7909560" cy="2351803"/>
          </a:xfrm>
          <a:prstGeom prst="roundRect">
            <a:avLst>
              <a:gd name="adj" fmla="val 5161"/>
            </a:avLst>
          </a:prstGeom>
          <a:solidFill>
            <a:srgbClr val="011638"/>
          </a:solidFill>
          <a:ln/>
        </p:spPr>
        <p:txBody>
          <a:bodyPr/>
          <a:lstStyle/>
          <a:p>
            <a:r>
              <a:rPr lang="fr-FR" sz="1200" dirty="0">
                <a:solidFill>
                  <a:schemeClr val="bg1"/>
                </a:solidFill>
              </a:rPr>
              <a:t>let </a:t>
            </a:r>
            <a:r>
              <a:rPr lang="fr-FR" sz="1200" dirty="0" err="1">
                <a:solidFill>
                  <a:schemeClr val="bg1"/>
                </a:solidFill>
              </a:rPr>
              <a:t>boutonTheme</a:t>
            </a:r>
            <a:r>
              <a:rPr lang="fr-FR" sz="1200" dirty="0">
                <a:solidFill>
                  <a:schemeClr val="bg1"/>
                </a:solidFill>
              </a:rPr>
              <a:t> = </a:t>
            </a:r>
            <a:r>
              <a:rPr lang="fr-FR" sz="1200" dirty="0" err="1">
                <a:solidFill>
                  <a:schemeClr val="bg1"/>
                </a:solidFill>
              </a:rPr>
              <a:t>document.getElementById</a:t>
            </a:r>
            <a:r>
              <a:rPr lang="fr-FR" sz="1200" dirty="0">
                <a:solidFill>
                  <a:schemeClr val="bg1"/>
                </a:solidFill>
              </a:rPr>
              <a:t>("</a:t>
            </a:r>
            <a:r>
              <a:rPr lang="fr-FR" sz="1200" dirty="0" err="1">
                <a:solidFill>
                  <a:schemeClr val="bg1"/>
                </a:solidFill>
              </a:rPr>
              <a:t>theme-toggle</a:t>
            </a:r>
            <a:r>
              <a:rPr lang="fr-FR" sz="1200" dirty="0">
                <a:solidFill>
                  <a:schemeClr val="bg1"/>
                </a:solidFill>
              </a:rPr>
              <a:t>");</a:t>
            </a:r>
          </a:p>
          <a:p>
            <a:r>
              <a:rPr lang="fr-FR" sz="1200" dirty="0">
                <a:solidFill>
                  <a:schemeClr val="bg1"/>
                </a:solidFill>
              </a:rPr>
              <a:t>if (</a:t>
            </a:r>
            <a:r>
              <a:rPr lang="fr-FR" sz="1200" dirty="0" err="1">
                <a:solidFill>
                  <a:schemeClr val="bg1"/>
                </a:solidFill>
              </a:rPr>
              <a:t>localStorage.getItem</a:t>
            </a:r>
            <a:r>
              <a:rPr lang="fr-FR" sz="1200" dirty="0">
                <a:solidFill>
                  <a:schemeClr val="bg1"/>
                </a:solidFill>
              </a:rPr>
              <a:t>("</a:t>
            </a:r>
            <a:r>
              <a:rPr lang="fr-FR" sz="1200" dirty="0" err="1">
                <a:solidFill>
                  <a:schemeClr val="bg1"/>
                </a:solidFill>
              </a:rPr>
              <a:t>theme</a:t>
            </a:r>
            <a:r>
              <a:rPr lang="fr-FR" sz="1200" dirty="0">
                <a:solidFill>
                  <a:schemeClr val="bg1"/>
                </a:solidFill>
              </a:rPr>
              <a:t>") === "</a:t>
            </a:r>
            <a:r>
              <a:rPr lang="fr-FR" sz="1200" dirty="0" err="1">
                <a:solidFill>
                  <a:schemeClr val="bg1"/>
                </a:solidFill>
              </a:rPr>
              <a:t>dark</a:t>
            </a:r>
            <a:r>
              <a:rPr lang="fr-FR" sz="1200" dirty="0">
                <a:solidFill>
                  <a:schemeClr val="bg1"/>
                </a:solidFill>
              </a:rPr>
              <a:t>") {</a:t>
            </a:r>
          </a:p>
          <a:p>
            <a:r>
              <a:rPr lang="fr-FR" sz="1200" dirty="0">
                <a:solidFill>
                  <a:schemeClr val="bg1"/>
                </a:solidFill>
              </a:rPr>
              <a:t>  </a:t>
            </a:r>
            <a:r>
              <a:rPr lang="fr-FR" sz="1200" dirty="0" err="1">
                <a:solidFill>
                  <a:schemeClr val="bg1"/>
                </a:solidFill>
              </a:rPr>
              <a:t>document.body.classList.add</a:t>
            </a:r>
            <a:r>
              <a:rPr lang="fr-FR" sz="1200" dirty="0">
                <a:solidFill>
                  <a:schemeClr val="bg1"/>
                </a:solidFill>
              </a:rPr>
              <a:t>("</a:t>
            </a:r>
            <a:r>
              <a:rPr lang="fr-FR" sz="1200" dirty="0" err="1">
                <a:solidFill>
                  <a:schemeClr val="bg1"/>
                </a:solidFill>
              </a:rPr>
              <a:t>dark</a:t>
            </a:r>
            <a:r>
              <a:rPr lang="fr-FR" sz="1200" dirty="0">
                <a:solidFill>
                  <a:schemeClr val="bg1"/>
                </a:solidFill>
              </a:rPr>
              <a:t>-mode");</a:t>
            </a:r>
          </a:p>
          <a:p>
            <a:r>
              <a:rPr lang="fr-FR" sz="1200" dirty="0">
                <a:solidFill>
                  <a:schemeClr val="bg1"/>
                </a:solidFill>
              </a:rPr>
              <a:t>}</a:t>
            </a:r>
          </a:p>
          <a:p>
            <a:r>
              <a:rPr lang="fr-FR" sz="1200" dirty="0" err="1">
                <a:solidFill>
                  <a:schemeClr val="bg1"/>
                </a:solidFill>
              </a:rPr>
              <a:t>boutonTheme.addEventListener</a:t>
            </a:r>
            <a:r>
              <a:rPr lang="fr-FR" sz="1200" dirty="0">
                <a:solidFill>
                  <a:schemeClr val="bg1"/>
                </a:solidFill>
              </a:rPr>
              <a:t>("click", </a:t>
            </a:r>
            <a:r>
              <a:rPr lang="fr-FR" sz="1200" dirty="0" err="1">
                <a:solidFill>
                  <a:schemeClr val="bg1"/>
                </a:solidFill>
              </a:rPr>
              <a:t>function</a:t>
            </a:r>
            <a:r>
              <a:rPr lang="fr-FR" sz="1200" dirty="0">
                <a:solidFill>
                  <a:schemeClr val="bg1"/>
                </a:solidFill>
              </a:rPr>
              <a:t> () {</a:t>
            </a:r>
          </a:p>
          <a:p>
            <a:r>
              <a:rPr lang="fr-FR" sz="1200" dirty="0">
                <a:solidFill>
                  <a:schemeClr val="bg1"/>
                </a:solidFill>
              </a:rPr>
              <a:t>  </a:t>
            </a:r>
            <a:r>
              <a:rPr lang="fr-FR" sz="1200" dirty="0" err="1">
                <a:solidFill>
                  <a:schemeClr val="bg1"/>
                </a:solidFill>
              </a:rPr>
              <a:t>document.body.classList.toggle</a:t>
            </a:r>
            <a:r>
              <a:rPr lang="fr-FR" sz="1200" dirty="0">
                <a:solidFill>
                  <a:schemeClr val="bg1"/>
                </a:solidFill>
              </a:rPr>
              <a:t>("</a:t>
            </a:r>
            <a:r>
              <a:rPr lang="fr-FR" sz="1200" dirty="0" err="1">
                <a:solidFill>
                  <a:schemeClr val="bg1"/>
                </a:solidFill>
              </a:rPr>
              <a:t>dark</a:t>
            </a:r>
            <a:r>
              <a:rPr lang="fr-FR" sz="1200" dirty="0">
                <a:solidFill>
                  <a:schemeClr val="bg1"/>
                </a:solidFill>
              </a:rPr>
              <a:t>-mode");</a:t>
            </a:r>
          </a:p>
          <a:p>
            <a:r>
              <a:rPr lang="fr-FR" sz="1200" dirty="0">
                <a:solidFill>
                  <a:schemeClr val="bg1"/>
                </a:solidFill>
              </a:rPr>
              <a:t>  if (</a:t>
            </a:r>
            <a:r>
              <a:rPr lang="fr-FR" sz="1200" dirty="0" err="1">
                <a:solidFill>
                  <a:schemeClr val="bg1"/>
                </a:solidFill>
              </a:rPr>
              <a:t>document.body.classList.contains</a:t>
            </a:r>
            <a:r>
              <a:rPr lang="fr-FR" sz="1200" dirty="0">
                <a:solidFill>
                  <a:schemeClr val="bg1"/>
                </a:solidFill>
              </a:rPr>
              <a:t>("</a:t>
            </a:r>
            <a:r>
              <a:rPr lang="fr-FR" sz="1200" dirty="0" err="1">
                <a:solidFill>
                  <a:schemeClr val="bg1"/>
                </a:solidFill>
              </a:rPr>
              <a:t>dark</a:t>
            </a:r>
            <a:r>
              <a:rPr lang="fr-FR" sz="1200" dirty="0">
                <a:solidFill>
                  <a:schemeClr val="bg1"/>
                </a:solidFill>
              </a:rPr>
              <a:t>-mode")) {</a:t>
            </a:r>
          </a:p>
          <a:p>
            <a:r>
              <a:rPr lang="fr-FR" sz="1200" dirty="0">
                <a:solidFill>
                  <a:schemeClr val="bg1"/>
                </a:solidFill>
              </a:rPr>
              <a:t>    </a:t>
            </a:r>
            <a:r>
              <a:rPr lang="fr-FR" sz="1200" dirty="0" err="1">
                <a:solidFill>
                  <a:schemeClr val="bg1"/>
                </a:solidFill>
              </a:rPr>
              <a:t>localStorage.setItem</a:t>
            </a:r>
            <a:r>
              <a:rPr lang="fr-FR" sz="1200" dirty="0">
                <a:solidFill>
                  <a:schemeClr val="bg1"/>
                </a:solidFill>
              </a:rPr>
              <a:t>("</a:t>
            </a:r>
            <a:r>
              <a:rPr lang="fr-FR" sz="1200" dirty="0" err="1">
                <a:solidFill>
                  <a:schemeClr val="bg1"/>
                </a:solidFill>
              </a:rPr>
              <a:t>theme</a:t>
            </a:r>
            <a:r>
              <a:rPr lang="fr-FR" sz="1200" dirty="0">
                <a:solidFill>
                  <a:schemeClr val="bg1"/>
                </a:solidFill>
              </a:rPr>
              <a:t>", "</a:t>
            </a:r>
            <a:r>
              <a:rPr lang="fr-FR" sz="1200" dirty="0" err="1">
                <a:solidFill>
                  <a:schemeClr val="bg1"/>
                </a:solidFill>
              </a:rPr>
              <a:t>dark</a:t>
            </a:r>
            <a:r>
              <a:rPr lang="fr-FR" sz="1200" dirty="0">
                <a:solidFill>
                  <a:schemeClr val="bg1"/>
                </a:solidFill>
              </a:rPr>
              <a:t>");</a:t>
            </a:r>
          </a:p>
          <a:p>
            <a:r>
              <a:rPr lang="fr-FR" sz="1200" dirty="0">
                <a:solidFill>
                  <a:schemeClr val="bg1"/>
                </a:solidFill>
              </a:rPr>
              <a:t>  } </a:t>
            </a:r>
            <a:r>
              <a:rPr lang="fr-FR" sz="1200" dirty="0" err="1">
                <a:solidFill>
                  <a:schemeClr val="bg1"/>
                </a:solidFill>
              </a:rPr>
              <a:t>else</a:t>
            </a:r>
            <a:r>
              <a:rPr lang="fr-FR" sz="1200" dirty="0">
                <a:solidFill>
                  <a:schemeClr val="bg1"/>
                </a:solidFill>
              </a:rPr>
              <a:t> {</a:t>
            </a:r>
          </a:p>
          <a:p>
            <a:r>
              <a:rPr lang="fr-FR" sz="1200" dirty="0">
                <a:solidFill>
                  <a:schemeClr val="bg1"/>
                </a:solidFill>
              </a:rPr>
              <a:t>    </a:t>
            </a:r>
            <a:r>
              <a:rPr lang="fr-FR" sz="1200" dirty="0" err="1">
                <a:solidFill>
                  <a:schemeClr val="bg1"/>
                </a:solidFill>
              </a:rPr>
              <a:t>localStorage.setItem</a:t>
            </a:r>
            <a:r>
              <a:rPr lang="fr-FR" sz="1200" dirty="0">
                <a:solidFill>
                  <a:schemeClr val="bg1"/>
                </a:solidFill>
              </a:rPr>
              <a:t>("</a:t>
            </a:r>
            <a:r>
              <a:rPr lang="fr-FR" sz="1200" dirty="0" err="1">
                <a:solidFill>
                  <a:schemeClr val="bg1"/>
                </a:solidFill>
              </a:rPr>
              <a:t>theme</a:t>
            </a:r>
            <a:r>
              <a:rPr lang="fr-FR" sz="1200" dirty="0">
                <a:solidFill>
                  <a:schemeClr val="bg1"/>
                </a:solidFill>
              </a:rPr>
              <a:t>", "light");</a:t>
            </a:r>
          </a:p>
          <a:p>
            <a:r>
              <a:rPr lang="fr-FR" sz="1200" dirty="0">
                <a:solidFill>
                  <a:schemeClr val="bg1"/>
                </a:solidFill>
              </a:rPr>
              <a:t>  }</a:t>
            </a:r>
          </a:p>
          <a:p>
            <a:r>
              <a:rPr lang="fr-FR" sz="1200" dirty="0"/>
              <a:t>});</a:t>
            </a:r>
            <a:r>
              <a:rPr lang="en-US" sz="1200" b="1" dirty="0">
                <a:solidFill>
                  <a:srgbClr val="DFF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Extrait —</a:t>
            </a:r>
            <a:r>
              <a:rPr lang="fr-FR" sz="1200" dirty="0">
                <a:solidFill>
                  <a:schemeClr val="bg1"/>
                </a:solidFill>
              </a:rPr>
              <a:t>Mode sombre (</a:t>
            </a:r>
            <a:r>
              <a:rPr lang="fr-FR" sz="1200" dirty="0" err="1">
                <a:solidFill>
                  <a:schemeClr val="bg1"/>
                </a:solidFill>
              </a:rPr>
              <a:t>dark</a:t>
            </a:r>
            <a:r>
              <a:rPr lang="fr-FR" sz="1200" dirty="0">
                <a:solidFill>
                  <a:schemeClr val="bg1"/>
                </a:solidFill>
              </a:rPr>
              <a:t> mode</a:t>
            </a:r>
            <a:r>
              <a:rPr lang="fr-FR" sz="1200" dirty="0"/>
              <a:t>)</a:t>
            </a:r>
            <a:r>
              <a:rPr lang="en-US" sz="1200" b="1" dirty="0">
                <a:solidFill>
                  <a:srgbClr val="DFF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  <a:p>
            <a:endParaRPr lang="fr-FR" sz="1200" dirty="0"/>
          </a:p>
        </p:txBody>
      </p:sp>
      <p:sp>
        <p:nvSpPr>
          <p:cNvPr id="29" name="Text 21"/>
          <p:cNvSpPr/>
          <p:nvPr/>
        </p:nvSpPr>
        <p:spPr>
          <a:xfrm>
            <a:off x="777240" y="349300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777240" y="3785616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endParaRPr lang="en-US" sz="1050" dirty="0"/>
          </a:p>
        </p:txBody>
      </p:sp>
      <p:sp>
        <p:nvSpPr>
          <p:cNvPr id="31" name="Text 23"/>
          <p:cNvSpPr/>
          <p:nvPr/>
        </p:nvSpPr>
        <p:spPr>
          <a:xfrm>
            <a:off x="8229600" y="48646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14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TECHNIQUES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116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 5 &amp; CSS avancé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Bootstrap utilisés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64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responsive (menu hamburger)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64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system (col-12 / col-md-6 / col-lg-4)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64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(freelances, </a:t>
            </a:r>
            <a:r>
              <a:rPr lang="en-US" sz="1200" dirty="0" err="1">
                <a:solidFill>
                  <a:srgbClr val="364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tarifs</a:t>
            </a:r>
            <a:r>
              <a:rPr lang="en-US" sz="1200" dirty="0">
                <a:solidFill>
                  <a:srgbClr val="364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équipe)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64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 (témoignages)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64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Accordion (FAQ)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64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(fiche freelance)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17720" y="1325880"/>
            <a:ext cx="18288" cy="2651760"/>
          </a:xfrm>
          <a:prstGeom prst="rect">
            <a:avLst/>
          </a:prstGeom>
          <a:solidFill>
            <a:srgbClr val="CDCDC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846320" y="1325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avancé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169164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64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variables CSS dans :root (couleurs, polices, espacements)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64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Bento Grid en CSS Grid (asymétrique)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64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 : fade-in au scroll, compteurs, cartes flottantes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64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Transitions au survol (hover) sur les cartes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64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 : 375px / 768px / 1200px+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160520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DFF8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777240" y="416052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4E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--color-primary, --color-accent, --font-title, --font-body, --space-lg, --radius-md, ...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0" y="48646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  <p:transition spd="slow"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16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FF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Versioning &amp; déploiement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214E3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49047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371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FF8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github.com/ousseynou12dev/Ousseynou-Diagne-AfriTalent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rgbClr val="214E3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039112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FF8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ousseynou12dev.github.io/Ousseynou-Diagne-AfriTalent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4864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commits, planning respecté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48640" y="29260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CDCD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Init : arborescence &amp; structure HTML de base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CDCD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HTML : structure complète des 5 pages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CDCD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CSS : variables, typographie, layout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CDCD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CSS : Bento Grid, hero, hover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CDCD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CSS : responsive mobile/tablette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572000" y="292608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CDCD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JS : dark mode &amp; navbar au scroll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CDCD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JS : compteurs animés &amp; fade-in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CDCD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JS : filtrage &amp; validation formulaire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CDCD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Finalisation : bugs, commentaires, W3C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CDCD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Déploiement : GitHub Pages &amp; README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8229600" y="48646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14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D'EXPÉRIENCE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116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Difficultés rencontrées et solutions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960120"/>
          </a:xfrm>
          <a:prstGeom prst="roundRect">
            <a:avLst>
              <a:gd name="adj" fmla="val 7619"/>
            </a:avLst>
          </a:prstGeom>
          <a:solidFill>
            <a:srgbClr val="DFF8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4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166420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1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composant d'étoiles de notation (freelances.html) ne s'affichait pas correctement.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26280" y="1481328"/>
            <a:ext cx="13716" cy="749808"/>
          </a:xfrm>
          <a:prstGeom prst="rect">
            <a:avLst/>
          </a:prstGeom>
          <a:solidFill>
            <a:srgbClr val="214E3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709160" y="14630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4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09160" y="1664208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1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des styles CSS manquants pour la classe .rating (radios cachés + labels étoile stylées).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8046720" cy="960120"/>
          </a:xfrm>
          <a:prstGeom prst="roundRect">
            <a:avLst>
              <a:gd name="adj" fmla="val 7619"/>
            </a:avLst>
          </a:prstGeom>
          <a:solidFill>
            <a:srgbClr val="DFF8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777240" y="2560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4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276148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1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L'accordéon FAQ permettait d'ouvrir plusieurs questions en même temps.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26280" y="2578608"/>
            <a:ext cx="13716" cy="749808"/>
          </a:xfrm>
          <a:prstGeom prst="rect">
            <a:avLst/>
          </a:prstGeom>
          <a:solidFill>
            <a:srgbClr val="214E3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709160" y="2560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4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09160" y="2761488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1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de l'id "monAccordion" sur le conteneur, requis par data-bs-parent pour un comportement exclusif.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8046720" cy="960120"/>
          </a:xfrm>
          <a:prstGeom prst="roundRect">
            <a:avLst>
              <a:gd name="adj" fmla="val 7619"/>
            </a:avLst>
          </a:prstGeom>
          <a:solidFill>
            <a:srgbClr val="DFF8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777240" y="36576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4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" y="385876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1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[À personnaliser] — décrivez ici une difficulté que vous avez vraiment rencontrée.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26280" y="3675888"/>
            <a:ext cx="13716" cy="749808"/>
          </a:xfrm>
          <a:prstGeom prst="rect">
            <a:avLst/>
          </a:prstGeom>
          <a:solidFill>
            <a:srgbClr val="214E3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709160" y="36576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4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09160" y="3858768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1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[À personnaliser] — décrivez la solution que vous avez mise en œuvre.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29600" y="48646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  <p:transition spd="slow">
    <p:randomBar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14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116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Ressources utilisées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3072384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6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Utilité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641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MDN Web Docs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8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641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Référence HTML, CSS, JavaScript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641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Bootstrap 5 Docs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8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641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Composants, grille, utilitaires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641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Fonts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8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641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Polices Inter &amp; Playfair Display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641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Bootstrap Icons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8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641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Icônes utilisées sur tout le site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641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W3C Validator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8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641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de la structure HTML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641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Unsplash / Pexels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8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641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 libres de droits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641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Coolors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8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641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Vérification de la palette de couleurs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0" y="48646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  <p:transition spd="slow">
    <p:randomBar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116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214E34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3977640" y="685800"/>
            <a:ext cx="1188720" cy="1188720"/>
          </a:xfrm>
          <a:prstGeom prst="ellipse">
            <a:avLst/>
          </a:prstGeom>
          <a:solidFill>
            <a:srgbClr val="214E3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707" y="994867"/>
            <a:ext cx="570586" cy="5705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965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Démonstration en direct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2606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DFF8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ousseynou12dev.github.io/Ousseynou-Diagne-AfriTalent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94360" y="3246120"/>
            <a:ext cx="1234440" cy="502920"/>
          </a:xfrm>
          <a:prstGeom prst="roundRect">
            <a:avLst>
              <a:gd name="adj" fmla="val 5090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DFF8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94360" y="32461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938528" y="3246120"/>
            <a:ext cx="1234440" cy="502920"/>
          </a:xfrm>
          <a:prstGeom prst="roundRect">
            <a:avLst>
              <a:gd name="adj" fmla="val 5090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DFF8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1938528" y="32461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82696" y="3246120"/>
            <a:ext cx="1234440" cy="502920"/>
          </a:xfrm>
          <a:prstGeom prst="roundRect">
            <a:avLst>
              <a:gd name="adj" fmla="val 5090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DFF8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3282696" y="32461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26864" y="3246120"/>
            <a:ext cx="1234440" cy="502920"/>
          </a:xfrm>
          <a:prstGeom prst="roundRect">
            <a:avLst>
              <a:gd name="adj" fmla="val 5090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DFF8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4626864" y="32461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propos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971032" y="3246120"/>
            <a:ext cx="1234440" cy="502920"/>
          </a:xfrm>
          <a:prstGeom prst="roundRect">
            <a:avLst>
              <a:gd name="adj" fmla="val 5090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DFF8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5971032" y="32461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315200" y="3246120"/>
            <a:ext cx="1234440" cy="502920"/>
          </a:xfrm>
          <a:prstGeom prst="roundRect">
            <a:avLst>
              <a:gd name="adj" fmla="val 5090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DFF8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7315200" y="32461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DCD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 ·  Filtres  ·  Formulaire  ·  Accordéon  ·  Modale  ·  Compteurs animés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229600" y="48646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  <p:transition spd="slow">
    <p:randomBar dir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14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116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ce projet démontre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84048" cy="384048"/>
          </a:xfrm>
          <a:prstGeom prst="ellipse">
            <a:avLst/>
          </a:prstGeom>
          <a:solidFill>
            <a:srgbClr val="DFF8E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92" y="1562892"/>
            <a:ext cx="184343" cy="1843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4630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1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pages HTML sémantiques, reliées et responsives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663440" y="1463040"/>
            <a:ext cx="384048" cy="384048"/>
          </a:xfrm>
          <a:prstGeom prst="ellipse">
            <a:avLst/>
          </a:prstGeom>
          <a:solidFill>
            <a:srgbClr val="DFF8E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292" y="1562892"/>
            <a:ext cx="184343" cy="18434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66360" y="14630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1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fonctionnalités JavaScript vanilla opérationnelles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48640" y="2240280"/>
            <a:ext cx="384048" cy="384048"/>
          </a:xfrm>
          <a:prstGeom prst="ellipse">
            <a:avLst/>
          </a:prstGeom>
          <a:solidFill>
            <a:srgbClr val="DFF8E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92" y="2340132"/>
            <a:ext cx="184343" cy="18434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224028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1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maîtrisé : grille, cards, carousel, accordion, modal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4663440" y="2240280"/>
            <a:ext cx="384048" cy="384048"/>
          </a:xfrm>
          <a:prstGeom prst="ellipse">
            <a:avLst/>
          </a:prstGeom>
          <a:solidFill>
            <a:srgbClr val="DFF8E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292" y="2340132"/>
            <a:ext cx="184343" cy="18434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166360" y="224028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1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avancé : variables, Bento Grid, animations, media queries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548640" y="3017520"/>
            <a:ext cx="384048" cy="384048"/>
          </a:xfrm>
          <a:prstGeom prst="ellipse">
            <a:avLst/>
          </a:prstGeom>
          <a:solidFill>
            <a:srgbClr val="DFF8E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92" y="3117372"/>
            <a:ext cx="184343" cy="18434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51560" y="301752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1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Accessibilité de base respectée (alt, aria-label, contrastes)</a:t>
            </a:r>
            <a:endParaRPr lang="en-US" sz="1150" dirty="0"/>
          </a:p>
        </p:txBody>
      </p:sp>
      <p:sp>
        <p:nvSpPr>
          <p:cNvPr id="19" name="Shape 12"/>
          <p:cNvSpPr/>
          <p:nvPr/>
        </p:nvSpPr>
        <p:spPr>
          <a:xfrm>
            <a:off x="4663440" y="3017520"/>
            <a:ext cx="384048" cy="384048"/>
          </a:xfrm>
          <a:prstGeom prst="ellipse">
            <a:avLst/>
          </a:prstGeom>
          <a:solidFill>
            <a:srgbClr val="DFF8E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292" y="3117372"/>
            <a:ext cx="184343" cy="184343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166360" y="301752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1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versionné avec 10 commits et déployé sur GitHub Pages</a:t>
            </a:r>
            <a:endParaRPr lang="en-US" sz="1150" dirty="0"/>
          </a:p>
        </p:txBody>
      </p:sp>
      <p:sp>
        <p:nvSpPr>
          <p:cNvPr id="22" name="Shape 14"/>
          <p:cNvSpPr/>
          <p:nvPr/>
        </p:nvSpPr>
        <p:spPr>
          <a:xfrm>
            <a:off x="548640" y="3977640"/>
            <a:ext cx="8046720" cy="822960"/>
          </a:xfrm>
          <a:prstGeom prst="roundRect">
            <a:avLst>
              <a:gd name="adj" fmla="val 8889"/>
            </a:avLst>
          </a:prstGeom>
          <a:solidFill>
            <a:srgbClr val="0116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15"/>
          <p:cNvSpPr/>
          <p:nvPr/>
        </p:nvSpPr>
        <p:spPr>
          <a:xfrm>
            <a:off x="822960" y="39776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FF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projet reflète mon autonomie, ma rigueur et ma capacité à apprendre par moi-même — les qualités attendues d'un informaticien en 2026.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8229600" y="48646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  <p:transition spd="slow">
    <p:randomBar dir="vert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116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3291840"/>
            <a:ext cx="3108960" cy="3108960"/>
          </a:xfrm>
          <a:prstGeom prst="ellipse">
            <a:avLst/>
          </a:prstGeom>
          <a:solidFill>
            <a:srgbClr val="214E34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FF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APRÈS ?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 d'amélioration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DFF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réel (base de données des freelances, authentification)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DFF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paiement et d'escrow fonctionnel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DFF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Messagerie interne entre freelances et entreprises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DFF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Internationalisation (anglais / français)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DFF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freelance : gestion de profil, missions, factures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0" y="48646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1259</Words>
  <Application>Microsoft Office PowerPoint</Application>
  <PresentationFormat>Affichage à l'écran (16:9)</PresentationFormat>
  <Paragraphs>242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AfriTalent — Présentation de projet</dc:title>
  <dc:subject>PptxGenJS Presentation</dc:subject>
  <dc:creator>Ousseynou Diagne</dc:creator>
  <cp:lastModifiedBy>Ousseynou Diagne</cp:lastModifiedBy>
  <cp:revision>2</cp:revision>
  <dcterms:created xsi:type="dcterms:W3CDTF">2026-07-02T20:56:34Z</dcterms:created>
  <dcterms:modified xsi:type="dcterms:W3CDTF">2026-07-03T10:57:43Z</dcterms:modified>
</cp:coreProperties>
</file>